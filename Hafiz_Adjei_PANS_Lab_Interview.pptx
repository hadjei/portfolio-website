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35508" y="5623560"/>
            <a:ext cx="3159252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8181B"/>
                </a:solidFill>
                <a:latin typeface="Georgia"/>
              </a:defRPr>
            </a:pPr>
            <a:r>
              <a:t>Hafiz Adjei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" y="6181343"/>
            <a:ext cx="3159252" cy="45719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1_img0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868680"/>
            <a:ext cx="320040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40680" y="82296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8181B"/>
                </a:solidFill>
                <a:latin typeface="Calibri"/>
              </a:defRPr>
            </a:pPr>
            <a:r>
              <a:t>MS, Electrical &amp; Computer Engineering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Carnegie Mellon University Kigali Campus</a:t>
            </a:r>
          </a:p>
        </p:txBody>
      </p:sp>
      <p:pic>
        <p:nvPicPr>
          <p:cNvPr id="8" name="Picture 7" descr="p1_img1_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874520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1828800"/>
            <a:ext cx="62179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8181B"/>
                </a:solidFill>
                <a:latin typeface="Calibri"/>
              </a:defRPr>
            </a:pPr>
            <a:r>
              <a:rPr dirty="0"/>
              <a:t>BS, Electrical &amp; Electronic Engineering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rPr dirty="0"/>
              <a:t>Ashesi University · Ghana</a:t>
            </a:r>
          </a:p>
        </p:txBody>
      </p:sp>
      <p:pic>
        <p:nvPicPr>
          <p:cNvPr id="10" name="Picture 9" descr="p1_img2_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80360"/>
            <a:ext cx="320040" cy="320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0680" y="2834640"/>
            <a:ext cx="621792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8181B"/>
                </a:solidFill>
                <a:latin typeface="Calibri"/>
              </a:defRPr>
            </a:pPr>
            <a:r>
              <a:rPr dirty="0"/>
              <a:t>Mastercard Foundation Scholar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64748B"/>
                </a:solidFill>
                <a:latin typeface="Calibri"/>
              </a:defRPr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Ashesi University · Ghana</a:t>
            </a:r>
          </a:p>
          <a:p>
            <a:pPr>
              <a:defRPr sz="1400" b="1">
                <a:solidFill>
                  <a:srgbClr val="18181B"/>
                </a:solidFill>
                <a:latin typeface="Calibri"/>
              </a:defRPr>
            </a:pPr>
            <a:endParaRPr lang="en-US" dirty="0"/>
          </a:p>
          <a:p>
            <a:pPr>
              <a:defRPr sz="1400" b="1">
                <a:solidFill>
                  <a:srgbClr val="18181B"/>
                </a:solidFill>
                <a:latin typeface="Calibri"/>
              </a:defRPr>
            </a:pP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4937760" y="3794760"/>
            <a:ext cx="64008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397764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Calibri"/>
              </a:defRPr>
            </a:pPr>
            <a:r>
              <a:t>E X P E R T I S E</a:t>
            </a:r>
          </a:p>
        </p:txBody>
      </p:sp>
      <p:pic>
        <p:nvPicPr>
          <p:cNvPr id="14" name="Picture 13" descr="p1_img3_Image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453128"/>
            <a:ext cx="320040" cy="320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4960" y="44348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181B"/>
                </a:solidFill>
                <a:latin typeface="Calibri"/>
              </a:defRPr>
            </a:pPr>
            <a:r>
              <a:rPr dirty="0"/>
              <a:t>Embedded Systems</a:t>
            </a:r>
          </a:p>
        </p:txBody>
      </p:sp>
      <p:pic>
        <p:nvPicPr>
          <p:cNvPr id="16" name="Picture 15" descr="p1_img4_Image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453128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0" y="4494276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181B"/>
                </a:solidFill>
                <a:latin typeface="Calibri"/>
              </a:defRPr>
            </a:pPr>
            <a:r>
              <a:rPr lang="en-US" dirty="0"/>
              <a:t>Wireless communication &amp; sensing</a:t>
            </a:r>
            <a:endParaRPr dirty="0"/>
          </a:p>
        </p:txBody>
      </p:sp>
      <p:pic>
        <p:nvPicPr>
          <p:cNvPr id="18" name="Picture 17" descr="p1_img5_Image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5504688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94960" y="54864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181B"/>
                </a:solidFill>
                <a:latin typeface="Calibri"/>
              </a:defRPr>
            </a:pPr>
            <a:r>
              <a:t>Edge ML &amp; TinyML</a:t>
            </a:r>
          </a:p>
        </p:txBody>
      </p:sp>
      <p:pic>
        <p:nvPicPr>
          <p:cNvPr id="20" name="Picture 19" descr="p2_img2_Image3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5504688"/>
            <a:ext cx="320040" cy="3200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0" y="5486400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8181B"/>
                </a:solidFill>
                <a:latin typeface="Calibri"/>
              </a:defRPr>
            </a:pPr>
            <a:r>
              <a:rPr dirty="0"/>
              <a:t>IoT Systems &amp; </a:t>
            </a:r>
            <a:r>
              <a:rPr lang="en-US" dirty="0"/>
              <a:t>Sensing</a:t>
            </a:r>
            <a:endParaRPr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085B03-2A35-10E3-2B32-F25D02B22F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" y="868680"/>
            <a:ext cx="3159252" cy="47388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0 1 / P R O J E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ImaraCare — Contactless Vital Sign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Wi-Fi CSI · On-Device LSTM · ESP32 · Best Poster Award (CMU Africa Research Showcase)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1206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defRPr sz="1500" b="1">
                <a:solidFill>
                  <a:srgbClr val="18181B"/>
                </a:solidFill>
                <a:latin typeface="Georgia"/>
              </a:defRPr>
            </a:pPr>
            <a:r>
              <a:rPr dirty="0"/>
              <a:t>The Challenge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1 newborn dies every 2 minutes in Sub-Saharan Africa. 75% of hypoxemia cases are preventable with continuous monitoring. However, conventional monitors require </a:t>
            </a:r>
            <a:r>
              <a:rPr lang="en-US" sz="1200" dirty="0"/>
              <a:t>fragile contact electrodes</a:t>
            </a:r>
            <a:r>
              <a:rPr sz="1200" dirty="0"/>
              <a:t>, cause skin trauma, and are scarce in low-resource NICUs</a:t>
            </a:r>
            <a:r>
              <a:rPr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74519"/>
            <a:ext cx="512064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ctr"/>
          <a:lstStyle/>
          <a:p>
            <a:pPr algn="ctr">
              <a:defRPr sz="1500" b="1">
                <a:solidFill>
                  <a:srgbClr val="18181B"/>
                </a:solidFill>
                <a:latin typeface="Georgia"/>
              </a:defRPr>
            </a:pPr>
            <a:r>
              <a:rPr dirty="0"/>
              <a:t>The Solution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Two ESP32 Wi-Fi transceivers placed across the cot capture fine-grained Channel State Information (CSI) disturbances. An on-device LSTM extracts heart rate and respiration patterns in real-time, completely contact-free and decoupled from cloud connectivity.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3328416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Georgia"/>
              </a:defRPr>
            </a:pPr>
            <a:r>
              <a:t>97.95%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HR Accuracy  ·  ±1.5 BPM clinical agreement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5696" y="3566160"/>
            <a:ext cx="3328416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Georgia"/>
              </a:defRPr>
            </a:pPr>
            <a:r>
              <a:t>30+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Validation Sessions  ·  Adult volunteers &amp; bench trials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3566160"/>
            <a:ext cx="3328416" cy="1051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2600" b="1">
                <a:solidFill>
                  <a:srgbClr val="1E3A8A"/>
                </a:solidFill>
                <a:latin typeface="Georgia"/>
              </a:defRPr>
            </a:pPr>
            <a:r>
              <a:t>580 KB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On-Device LSTM  ·  Runs directly on ESP32 SRAM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00600"/>
            <a:ext cx="10728655" cy="1691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46304" rIns="274320" rtlCol="0" anchor="ctr"/>
          <a:lstStyle/>
          <a:p>
            <a:pPr algn="ctr">
              <a:defRPr sz="11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Signal Processing &amp; Inference Pipeline:</a:t>
            </a:r>
          </a:p>
          <a:p>
            <a:pPr>
              <a:spcBef>
                <a:spcPts val="300"/>
              </a:spcBef>
              <a:defRPr sz="1050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Raw Wi-Fi CSI Amplitude  →  DC Removal  →  Butterworth Bandpass Filter  →  </a:t>
            </a:r>
            <a:r>
              <a:rPr sz="1200" dirty="0" err="1"/>
              <a:t>Savitzky</a:t>
            </a:r>
            <a:r>
              <a:rPr sz="1200" dirty="0"/>
              <a:t>-Golay Smoothing  →  Peak Detection &amp; LSTM Inference</a:t>
            </a:r>
          </a:p>
          <a:p>
            <a:pPr>
              <a:spcBef>
                <a:spcPts val="800"/>
              </a:spcBef>
              <a:defRPr sz="11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Key Research Insights: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• Signal processing &amp; deep learning must be co-designed: Pre-filtering noise and phase drift is critical before feeding into compact models.</a:t>
            </a:r>
            <a:br>
              <a:rPr sz="1200" dirty="0"/>
            </a:br>
            <a:r>
              <a:rPr sz="1200" dirty="0"/>
              <a:t>• Extreme hardware constraints force algorithmic efficiency: Successfully compressed temporal neural network to run inside 580 KB embedded SRAM.</a:t>
            </a:r>
            <a:br>
              <a:rPr sz="1200" dirty="0"/>
            </a:br>
            <a:r>
              <a:rPr sz="1200" dirty="0"/>
              <a:t>• Direct relevance to PANS Lab: Bridges contactless physical RF disturbances with robust human-centric sensing in uncontrolled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0 2 / P R O J E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Circular Microgrids: Battery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BAE Systems LiFePO4 · UART Protocol Reverse-Engineering · Resistance Estimation · Ampersand Rwanda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The Circular Microgrids project repurposes decommissioned EV battery packs (BAE Systems / A123, 40V, 736Wh) into second-life energy storage infrastructure for off-grid and microgrid contexts across Rwanda, bridging legacy industrial hardware with modern real-time cloud/edge telemetry.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4290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8181B"/>
                </a:solidFill>
                <a:latin typeface="Georgia"/>
              </a:defRPr>
            </a:pPr>
            <a:r>
              <a:rPr dirty="0"/>
              <a:t>Protocol Reverse-Engineering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dirty="0"/>
              <a:t>•</a:t>
            </a:r>
            <a:r>
              <a:rPr sz="1200" dirty="0"/>
              <a:t> Decoded Proprietary UART: </a:t>
            </a:r>
            <a:r>
              <a:rPr sz="1200" b="0" dirty="0">
                <a:solidFill>
                  <a:srgbClr val="64748B"/>
                </a:solidFill>
              </a:rPr>
              <a:t>Decoded proprietary 5V TTL UART protocol from legacy 2008 BAE Systems modules with zero documentation.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Signal Capture Methodology: </a:t>
            </a:r>
            <a:r>
              <a:rPr sz="1200" b="0" dirty="0">
                <a:solidFill>
                  <a:srgbClr val="64748B"/>
                </a:solidFill>
              </a:rPr>
              <a:t>Logic analyzer packet capture → byte-pattern correlation with measured electrical states → CRC-8 packet validation.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Multi-Drop Bus Topology: </a:t>
            </a:r>
            <a:r>
              <a:rPr sz="1200" b="0" dirty="0">
                <a:solidFill>
                  <a:srgbClr val="64748B"/>
                </a:solidFill>
              </a:rPr>
              <a:t>Implemented multi-module daisy-chain addressing and wired-OR RX bus to poll 3 battery modules simultaneously without packet collisions.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Full-Stack Implementation: </a:t>
            </a:r>
            <a:r>
              <a:rPr sz="1200" b="0" dirty="0">
                <a:solidFill>
                  <a:srgbClr val="64748B"/>
                </a:solidFill>
              </a:rPr>
              <a:t>Engineered Python serial library, Flask REST API, and real-time dashboard on Raspberry Pi 4.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423160"/>
            <a:ext cx="34290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8181B"/>
                </a:solidFill>
                <a:latin typeface="Georgia"/>
              </a:defRPr>
            </a:pPr>
            <a:r>
              <a:rPr dirty="0"/>
              <a:t>Resistance Estimation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Controlled Load Testing: </a:t>
            </a:r>
            <a:r>
              <a:rPr sz="1200" b="0" dirty="0">
                <a:solidFill>
                  <a:srgbClr val="64748B"/>
                </a:solidFill>
              </a:rPr>
              <a:t>Captured synchronized voltage-current transients under controlled load steps across 96-cell series-parallel groups.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Feature Extraction: </a:t>
            </a:r>
            <a:r>
              <a:rPr sz="1200" b="0" dirty="0">
                <a:solidFill>
                  <a:srgbClr val="64748B"/>
                </a:solidFill>
              </a:rPr>
              <a:t>Extracted per-cell internal resistance profiles and dynamic impedance metrics under varying thermal states.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Predictive ML Model: </a:t>
            </a:r>
            <a:r>
              <a:rPr sz="1200" b="0" dirty="0">
                <a:solidFill>
                  <a:srgbClr val="64748B"/>
                </a:solidFill>
              </a:rPr>
              <a:t>Trained ML model predicting remaining useful capacity and degradation trajectories to prevent mid-route failure.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Safety Calibration: </a:t>
            </a:r>
            <a:r>
              <a:rPr sz="1200" b="0" dirty="0">
                <a:solidFill>
                  <a:srgbClr val="64748B"/>
                </a:solidFill>
              </a:rPr>
              <a:t>Calibrated decision thresholds conservatively: strongly prioritized avoiding on-road vehicle stalls over aggressive capacity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28432" y="2423160"/>
            <a:ext cx="34290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400" b="1">
                <a:solidFill>
                  <a:srgbClr val="18181B"/>
                </a:solidFill>
                <a:latin typeface="Georgia"/>
              </a:defRPr>
            </a:pPr>
            <a:r>
              <a:rPr dirty="0"/>
              <a:t>Real-World Deployment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In-the-Wild Deployment: </a:t>
            </a:r>
            <a:r>
              <a:rPr sz="1200" b="0" dirty="0">
                <a:solidFill>
                  <a:srgbClr val="64748B"/>
                </a:solidFill>
              </a:rPr>
              <a:t>Predictions deployed directly at Ampersand e-moto battery swap stations in Kigali, driving data-driven retirement decisions.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Environmental Compensation: </a:t>
            </a:r>
            <a:r>
              <a:rPr sz="1200" b="0" dirty="0">
                <a:solidFill>
                  <a:srgbClr val="64748B"/>
                </a:solidFill>
              </a:rPr>
              <a:t>Integrated continuous temperature logging as a co-variate for LiFePO4 thermal resistance drift correction.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Deployment Robustness: </a:t>
            </a:r>
            <a:r>
              <a:rPr sz="1200" b="0" dirty="0">
                <a:solidFill>
                  <a:srgbClr val="64748B"/>
                </a:solidFill>
              </a:rPr>
              <a:t>Encountered and solved real-world serial bus contention, ground-loop noise, and communication jitter in industrial environments.</a:t>
            </a:r>
          </a:p>
          <a:p>
            <a:pPr>
              <a:spcBef>
                <a:spcPts val="600"/>
              </a:spcBef>
              <a:defRPr sz="95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Takeaway for PANS Lab: </a:t>
            </a:r>
            <a:r>
              <a:rPr sz="1200" b="0" dirty="0">
                <a:solidFill>
                  <a:srgbClr val="64748B"/>
                </a:solidFill>
              </a:rPr>
              <a:t>Extensive experience solving messy, real-world deployment challenges outside the sanitized laboratory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0 3 / P R O J E C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rPr dirty="0"/>
              <a:t>Ground Robot &amp; Edge IoT 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Autonomous IoT · Embedded Sensor Fusion · Real-Time Environmental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120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ctr">
              <a:defRPr sz="1600" b="1">
                <a:solidFill>
                  <a:srgbClr val="18181B"/>
                </a:solidFill>
                <a:latin typeface="Georgia"/>
              </a:defRPr>
            </a:pPr>
            <a:r>
              <a:rPr dirty="0"/>
              <a:t>The Challenge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Manual greenhouse inspection is labor-intensive and </a:t>
            </a:r>
            <a:r>
              <a:rPr lang="en-US" sz="1200" dirty="0"/>
              <a:t>often delayed</a:t>
            </a:r>
            <a:r>
              <a:rPr sz="1200" dirty="0"/>
              <a:t>. Smallholder farmers in Sub-Saharan Africa lack affordable, continuous sensor coverage for microclimate regulation, leading to preventable crop loss.</a:t>
            </a:r>
          </a:p>
          <a:p>
            <a:pPr>
              <a:spcBef>
                <a:spcPts val="8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——————————————————————————————————————</a:t>
            </a:r>
          </a:p>
          <a:p>
            <a:pPr>
              <a:spcBef>
                <a:spcPts val="800"/>
              </a:spcBef>
              <a:defRPr sz="1600" b="1">
                <a:solidFill>
                  <a:srgbClr val="18181B"/>
                </a:solidFill>
                <a:latin typeface="Georgia"/>
              </a:defRPr>
            </a:pPr>
            <a:r>
              <a:rPr dirty="0"/>
              <a:t>What I Built &amp; Deployed</a:t>
            </a:r>
          </a:p>
          <a:p>
            <a:pPr>
              <a:spcBef>
                <a:spcPts val="500"/>
              </a:spcBef>
              <a:defRPr sz="10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Autonomous Patrol Robot: </a:t>
            </a:r>
            <a:r>
              <a:rPr sz="1200" b="0" dirty="0">
                <a:solidFill>
                  <a:srgbClr val="64748B"/>
                </a:solidFill>
              </a:rPr>
              <a:t>Engineered ground robot for automated greenhouse patrol using line-following and obstacle avoidance algorithms.</a:t>
            </a:r>
          </a:p>
          <a:p>
            <a:pPr>
              <a:spcBef>
                <a:spcPts val="500"/>
              </a:spcBef>
              <a:defRPr sz="10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Multi-Sensor Fusion: </a:t>
            </a:r>
            <a:r>
              <a:rPr sz="1200" b="0" dirty="0">
                <a:solidFill>
                  <a:srgbClr val="64748B"/>
                </a:solidFill>
              </a:rPr>
              <a:t>Synchronized temperature, humidity, CO₂, and ambient light intensity sensors on a resource-constrained microcontroller.</a:t>
            </a:r>
          </a:p>
          <a:p>
            <a:pPr>
              <a:spcBef>
                <a:spcPts val="500"/>
              </a:spcBef>
              <a:defRPr sz="10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Low-Power Telemetry: </a:t>
            </a:r>
            <a:r>
              <a:rPr sz="1200" b="0" dirty="0">
                <a:solidFill>
                  <a:srgbClr val="64748B"/>
                </a:solidFill>
              </a:rPr>
              <a:t>Implemented ESP-NOW peer-to-peer wireless protocol for reliable data transmission without relying on internet or cellular grids.</a:t>
            </a:r>
          </a:p>
          <a:p>
            <a:pPr>
              <a:spcBef>
                <a:spcPts val="500"/>
              </a:spcBef>
              <a:defRPr sz="10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Companion Project (Smart City Parking): </a:t>
            </a:r>
            <a:r>
              <a:rPr sz="1200" b="0" dirty="0">
                <a:solidFill>
                  <a:srgbClr val="64748B"/>
                </a:solidFill>
              </a:rPr>
              <a:t>Designed low-cost smart parking node integrating inductive loop sensing, ultrasonic validation, and edge filtering for high-accuracy vehicle occupancy.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74519"/>
            <a:ext cx="5120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rtlCol="0" anchor="ctr"/>
          <a:lstStyle/>
          <a:p>
            <a:pPr algn="ctr">
              <a:defRPr sz="1600" b="1">
                <a:solidFill>
                  <a:srgbClr val="18181B"/>
                </a:solidFill>
                <a:latin typeface="Georgia"/>
              </a:defRPr>
            </a:pPr>
            <a:r>
              <a:rPr dirty="0"/>
              <a:t>Key Outcome &amp; Impact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Enabled continuous, data-driven environmental optimization without expensive fixed infrastructure. Proved that low-cost, off-the-shelf microcontrollers and intelligent firmware can solve high-stakes sensing problems in underserved communities.</a:t>
            </a:r>
          </a:p>
          <a:p>
            <a:pPr>
              <a:spcBef>
                <a:spcPts val="8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——————————————————————————————————————</a:t>
            </a:r>
          </a:p>
          <a:p>
            <a:pPr>
              <a:spcBef>
                <a:spcPts val="800"/>
              </a:spcBef>
              <a:defRPr sz="1600" b="1">
                <a:solidFill>
                  <a:srgbClr val="18181B"/>
                </a:solidFill>
                <a:latin typeface="Georgia"/>
              </a:defRPr>
            </a:pPr>
            <a:r>
              <a:rPr dirty="0"/>
              <a:t>Core Competencies Mastered</a:t>
            </a:r>
          </a:p>
          <a:p>
            <a:pPr>
              <a:spcBef>
                <a:spcPts val="600"/>
              </a:spcBef>
              <a:defRPr sz="10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Embedded Firmware &amp; RTOS: </a:t>
            </a:r>
            <a:r>
              <a:rPr sz="1200" b="0" dirty="0">
                <a:solidFill>
                  <a:srgbClr val="64748B"/>
                </a:solidFill>
              </a:rPr>
              <a:t>Interrupt-driven acquisition, sensor drivers, </a:t>
            </a:r>
            <a:r>
              <a:rPr sz="1200" b="0" dirty="0" err="1">
                <a:solidFill>
                  <a:srgbClr val="64748B"/>
                </a:solidFill>
              </a:rPr>
              <a:t>FreeRTOS</a:t>
            </a:r>
            <a:r>
              <a:rPr sz="1200" b="0" dirty="0">
                <a:solidFill>
                  <a:srgbClr val="64748B"/>
                </a:solidFill>
              </a:rPr>
              <a:t> task scheduling on microcontrollers (ESP32, STM32, KL25Z).</a:t>
            </a:r>
          </a:p>
          <a:p>
            <a:pPr>
              <a:spcBef>
                <a:spcPts val="600"/>
              </a:spcBef>
              <a:defRPr sz="10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Constrained Wireless Systems: </a:t>
            </a:r>
            <a:r>
              <a:rPr sz="1200" b="0" dirty="0">
                <a:solidFill>
                  <a:srgbClr val="64748B"/>
                </a:solidFill>
              </a:rPr>
              <a:t>Sub-GHz, </a:t>
            </a:r>
            <a:r>
              <a:rPr sz="1200" b="0" dirty="0" err="1">
                <a:solidFill>
                  <a:srgbClr val="64748B"/>
                </a:solidFill>
              </a:rPr>
              <a:t>LoRaWAN</a:t>
            </a:r>
            <a:r>
              <a:rPr sz="1200" b="0" dirty="0">
                <a:solidFill>
                  <a:srgbClr val="64748B"/>
                </a:solidFill>
              </a:rPr>
              <a:t>, ESP-NOW, and Bluetooth architectures designed for battery-operated field deployment.</a:t>
            </a:r>
          </a:p>
          <a:p>
            <a:pPr>
              <a:spcBef>
                <a:spcPts val="600"/>
              </a:spcBef>
              <a:defRPr sz="1000" b="1">
                <a:solidFill>
                  <a:srgbClr val="18181B"/>
                </a:solidFill>
                <a:latin typeface="Calibri"/>
              </a:defRPr>
            </a:pPr>
            <a:r>
              <a:rPr sz="1200" dirty="0"/>
              <a:t>• Deployment-First Mentality: </a:t>
            </a:r>
            <a:r>
              <a:rPr sz="1200" b="0" dirty="0">
                <a:solidFill>
                  <a:srgbClr val="64748B"/>
                </a:solidFill>
              </a:rPr>
              <a:t>Designing physical enclosures, dealing with environmental noise, dust, humidity, and real-world system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Calibri"/>
              </a:defRPr>
            </a:pPr>
            <a:r>
              <a:t>0 4 / R E S E A R C H   V I S I O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Georgia"/>
              </a:defRPr>
            </a:pPr>
            <a:r>
              <a:t>Pervasive Sensing &amp; Edge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Bridging constrained edge hardware and robust, real-world inference in unstructured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2865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rPr sz="1200" dirty="0"/>
              <a:t>Sensor systems routinely achieve high accuracy in controlled lab conditions, but degrade significantly when deployed across real-world homes and unstructured settings. My PhD goal is to bridge this gap by designing self-sustaining, edge-intelligent sensing systems tailored for ambient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4290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Georgia"/>
              </a:defRPr>
            </a:pPr>
            <a:r>
              <a:rPr dirty="0"/>
              <a:t>Cross-Context Generalization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The Challenge: </a:t>
            </a:r>
            <a:r>
              <a:rPr sz="1200" b="0" dirty="0">
                <a:solidFill>
                  <a:srgbClr val="64748B"/>
                </a:solidFill>
              </a:rPr>
              <a:t>Physical environment geometry, structural dynamics, and occupant habits introduce substantial domain variance.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Core Research Question: </a:t>
            </a:r>
            <a:r>
              <a:rPr sz="1200" b="0" dirty="0">
                <a:solidFill>
                  <a:srgbClr val="64748B"/>
                </a:solidFill>
              </a:rPr>
              <a:t>How do we design ambient sensing pipelines that maintain clinically meaningful accuracy without requiring extensive site-specific retraining?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Proposed Direction: </a:t>
            </a:r>
            <a:r>
              <a:rPr sz="1200" b="0" dirty="0">
                <a:solidFill>
                  <a:srgbClr val="64748B"/>
                </a:solidFill>
              </a:rPr>
              <a:t>Leveraging physics-informed priors and self-supervised pretraining to extract invariant </a:t>
            </a:r>
            <a:r>
              <a:rPr lang="en-US" sz="1200" b="0" dirty="0" err="1">
                <a:solidFill>
                  <a:srgbClr val="64748B"/>
                </a:solidFill>
              </a:rPr>
              <a:t>spatio</a:t>
            </a:r>
            <a:r>
              <a:rPr lang="en-US" sz="1200" b="0" dirty="0">
                <a:solidFill>
                  <a:srgbClr val="64748B"/>
                </a:solidFill>
              </a:rPr>
              <a:t>-temporal</a:t>
            </a:r>
            <a:r>
              <a:rPr sz="1200" b="0" dirty="0">
                <a:solidFill>
                  <a:srgbClr val="64748B"/>
                </a:solidFill>
              </a:rPr>
              <a:t> representations.</a:t>
            </a:r>
          </a:p>
        </p:txBody>
      </p:sp>
      <p:pic>
        <p:nvPicPr>
          <p:cNvPr id="9" name="Picture 8" descr="p5_img0_Image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26080"/>
            <a:ext cx="320040" cy="320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79976" y="2423160"/>
            <a:ext cx="34290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Georgia"/>
              </a:defRPr>
            </a:pPr>
            <a:r>
              <a:rPr dirty="0"/>
              <a:t>Multimodal Collaborative Learning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The Challenge: </a:t>
            </a:r>
            <a:r>
              <a:rPr sz="1200" b="0" dirty="0">
                <a:solidFill>
                  <a:srgbClr val="64748B"/>
                </a:solidFill>
              </a:rPr>
              <a:t>In real deployments, single modalities degrade due to line-of-sight obstruction, environmental noise, or sensor tampering.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Core Research Question: </a:t>
            </a:r>
            <a:r>
              <a:rPr sz="1200" b="0" dirty="0">
                <a:solidFill>
                  <a:srgbClr val="64748B"/>
                </a:solidFill>
              </a:rPr>
              <a:t>How can an ambient system dynamically adapt reliance across complementary modalities (e.g. Wi-Fi CSI, vibration/geophones, acoustics)?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Proposed Direction: </a:t>
            </a:r>
            <a:r>
              <a:rPr sz="1200" b="0" dirty="0">
                <a:solidFill>
                  <a:srgbClr val="64748B"/>
                </a:solidFill>
              </a:rPr>
              <a:t>Developing adaptive cross-modal fusion and confidence weighting to preserve system reliability even when individual sensors fail.</a:t>
            </a:r>
          </a:p>
        </p:txBody>
      </p:sp>
      <p:pic>
        <p:nvPicPr>
          <p:cNvPr id="11" name="Picture 10" descr="p5_img1_Image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926080"/>
            <a:ext cx="320040" cy="3200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28432" y="2423160"/>
            <a:ext cx="34290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94360" rIns="228600" rtlCol="0" anchor="ctr"/>
          <a:lstStyle/>
          <a:p>
            <a:pPr algn="ctr">
              <a:defRPr sz="1350" b="1">
                <a:solidFill>
                  <a:srgbClr val="18181B"/>
                </a:solidFill>
                <a:latin typeface="Georgia"/>
              </a:defRPr>
            </a:pPr>
            <a:r>
              <a:rPr dirty="0"/>
              <a:t>Constrained Edge-Native Deployment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rPr dirty="0"/>
              <a:t>——————————————————————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The Challenge: </a:t>
            </a:r>
            <a:r>
              <a:rPr sz="1200" b="0" dirty="0">
                <a:solidFill>
                  <a:srgbClr val="64748B"/>
                </a:solidFill>
              </a:rPr>
              <a:t>Streaming continuous high-rate sensing data (e.g. 7kHz geophone or Wi-Fi CSI) causes network congestion, cloud cost, and privacy concerns.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Core Research Question: </a:t>
            </a:r>
            <a:r>
              <a:rPr sz="1200" b="0" dirty="0">
                <a:solidFill>
                  <a:srgbClr val="64748B"/>
                </a:solidFill>
              </a:rPr>
              <a:t>What are the minimal compute &amp; memory envelopes for running lightweight temporal models (TCNs, quantized LSTMs) on-device?</a:t>
            </a:r>
          </a:p>
          <a:p>
            <a:pPr>
              <a:spcBef>
                <a:spcPts val="600"/>
              </a:spcBef>
              <a:defRPr sz="950" b="1">
                <a:solidFill>
                  <a:srgbClr val="1E3A8A"/>
                </a:solidFill>
                <a:latin typeface="Calibri"/>
              </a:defRPr>
            </a:pPr>
            <a:r>
              <a:rPr sz="1200" dirty="0"/>
              <a:t>Proposed Direction: </a:t>
            </a:r>
            <a:r>
              <a:rPr sz="1200" b="0" dirty="0">
                <a:solidFill>
                  <a:srgbClr val="64748B"/>
                </a:solidFill>
              </a:rPr>
              <a:t>Developing hardware-aware model quantization and edge inference pipelines directly on microcontrollers (ESP32) for privacy and zero latency.</a:t>
            </a:r>
          </a:p>
        </p:txBody>
      </p:sp>
      <p:pic>
        <p:nvPicPr>
          <p:cNvPr id="13" name="Picture 12" descr="p5_img2_Image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9260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1169</Words>
  <Application>Microsoft Office PowerPoint</Application>
  <PresentationFormat>Widescreen</PresentationFormat>
  <Paragraphs>88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Hafiz Adjei</cp:lastModifiedBy>
  <cp:revision>6</cp:revision>
  <dcterms:created xsi:type="dcterms:W3CDTF">2013-01-27T09:14:16Z</dcterms:created>
  <dcterms:modified xsi:type="dcterms:W3CDTF">2026-09-03T23:13:54Z</dcterms:modified>
  <cp:category/>
</cp:coreProperties>
</file>